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1"/>
  </p:notesMasterIdLst>
  <p:handoutMasterIdLst>
    <p:handoutMasterId r:id="rId22"/>
  </p:handoutMasterIdLst>
  <p:sldIdLst>
    <p:sldId id="296" r:id="rId5"/>
    <p:sldId id="256" r:id="rId6"/>
    <p:sldId id="312" r:id="rId7"/>
    <p:sldId id="313" r:id="rId8"/>
    <p:sldId id="261" r:id="rId9"/>
    <p:sldId id="311" r:id="rId10"/>
    <p:sldId id="262" r:id="rId11"/>
    <p:sldId id="297" r:id="rId12"/>
    <p:sldId id="304" r:id="rId13"/>
    <p:sldId id="289" r:id="rId14"/>
    <p:sldId id="302" r:id="rId15"/>
    <p:sldId id="295" r:id="rId16"/>
    <p:sldId id="308" r:id="rId17"/>
    <p:sldId id="310" r:id="rId18"/>
    <p:sldId id="298" r:id="rId19"/>
    <p:sldId id="30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368" dt="2026-09-15T21:34:20.764"/>
    <p1510:client id="{098F6116-F977-8126-0F81-0A395739D2A6}" v="5" dt="2026-09-15T03:42:19.336"/>
    <p1510:client id="{0AF37DC6-4673-C064-2A86-47535A2F2FA4}" v="1231" dt="2026-09-15T15:53:24.498"/>
    <p1510:client id="{177DEC16-3A47-7B32-23F2-B5478875E456}" v="537" dt="2026-09-15T20:00:23.485"/>
    <p1510:client id="{1A535C38-E47F-77A2-A831-E243DFBBCB4C}" v="37" dt="2026-09-15T21:02:51.307"/>
    <p1510:client id="{2D2B20B4-6FEF-3567-B9EE-B7BB7125012C}" v="304" dt="2026-09-15T06:04:31.526"/>
    <p1510:client id="{50885986-0924-9716-F942-F7D17F84D3B6}" v="328" dt="2026-09-15T21:44:11.004"/>
    <p1510:client id="{8AD99720-136C-18F7-E3EB-B26A7CE4F2E4}" v="74" dt="2026-09-15T16:23:47.045"/>
    <p1510:client id="{D3A99423-0C58-853B-3E85-2D82C1311563}" v="4040" dt="2026-09-14T23:12:58.294"/>
    <p1510:client id="{E8A9F539-B138-51DF-1FF8-628AEC8EBCD2}" v="266" dt="2026-09-15T19:07:53.359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33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B495A4C6-232E-4A1A-B575-7EF7F414FD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>
            <a:lvl1pPr algn="l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B4C6F7E-40F0-42B1-AFE0-D3C95660E0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2517" y="1599947"/>
            <a:ext cx="1706965" cy="4920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42EE46E3-709F-4AE9-AECE-FD647B6DCF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38732" y="2378452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3194FB4F-01AC-4A0E-BBE2-CF2B69F6FAC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22269" y="2169263"/>
            <a:ext cx="1706965" cy="10485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8E76F955-6B23-4972-8E86-603F19ECF6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1894" y="3528829"/>
            <a:ext cx="1393863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DDA77547-4FF4-4B15-96F1-DC9B00175B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40449" y="3528829"/>
            <a:ext cx="1380681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6E6B6915-DFCC-44EB-9C61-6B7725D1B7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37747" y="4634331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6718CC56-7B04-41D0-A320-CCCDC20D76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75224" y="4459860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778E1C09-B7DB-4CE7-A5B9-90BCF54448B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52714" y="4321788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7CFA026C-42CE-4C20-9DDE-417FDF6CB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2517" y="5468790"/>
            <a:ext cx="1706965" cy="4920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0AFAA95F-1461-496C-BAB4-D5D0594554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01857" y="5195673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D194B4E-75F4-47BE-B171-9C64697AB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7" idx="1"/>
          </p:cNvCxnSpPr>
          <p:nvPr userDrawn="1"/>
        </p:nvCxnSpPr>
        <p:spPr>
          <a:xfrm>
            <a:off x="2315757" y="3774842"/>
            <a:ext cx="7624692" cy="0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EFDA35F-76DF-4FDC-90C9-F9FEDF322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091972"/>
            <a:ext cx="4678" cy="3376818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Date Placeholder 2">
            <a:extLst>
              <a:ext uri="{FF2B5EF4-FFF2-40B4-BE49-F238E27FC236}">
                <a16:creationId xmlns:a16="http://schemas.microsoft.com/office/drawing/2014/main" id="{B8C04945-62C9-4964-8891-6D30EA90D2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32" name="Footer Placeholder 3">
            <a:extLst>
              <a:ext uri="{FF2B5EF4-FFF2-40B4-BE49-F238E27FC236}">
                <a16:creationId xmlns:a16="http://schemas.microsoft.com/office/drawing/2014/main" id="{51029B8B-F669-4889-98DD-90166117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33" name="Slide Number Placeholder 4">
            <a:extLst>
              <a:ext uri="{FF2B5EF4-FFF2-40B4-BE49-F238E27FC236}">
                <a16:creationId xmlns:a16="http://schemas.microsoft.com/office/drawing/2014/main" id="{7A0B84D6-438D-4B3B-B52C-6F5EC159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250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rt and tab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8749" y="1361938"/>
            <a:ext cx="6765925" cy="496888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286002"/>
            <a:ext cx="6094270" cy="3542143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8125" y="2284624"/>
            <a:ext cx="3147332" cy="306388"/>
          </a:xfrm>
        </p:spPr>
        <p:txBody>
          <a:bodyPr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858125" y="2779713"/>
            <a:ext cx="3148013" cy="309562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034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685" r:id="rId12"/>
    <p:sldLayoutId id="2147483700" r:id="rId13"/>
    <p:sldLayoutId id="2147483701" r:id="rId14"/>
    <p:sldLayoutId id="2147483692" r:id="rId15"/>
    <p:sldLayoutId id="2147483681" r:id="rId16"/>
    <p:sldLayoutId id="2147483674" r:id="rId17"/>
    <p:sldLayoutId id="2147483675" r:id="rId18"/>
    <p:sldLayoutId id="2147483696" r:id="rId19"/>
    <p:sldLayoutId id="2147483677" r:id="rId20"/>
    <p:sldLayoutId id="2147483678" r:id="rId21"/>
  </p:sldLayoutIdLst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46D6FEB-86C5-C4B0-40A5-22DC5AA50B4F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3030A94-D041-4C2F-C75C-D12180C788F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Caio Carraro </a:t>
            </a:r>
            <a:r>
              <a:rPr lang="en-US" err="1"/>
              <a:t>Bahlis</a:t>
            </a:r>
          </a:p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BFA268A-CEAC-FF55-8E18-15A6AA15566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1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10E907-5818-3F7F-B92C-4F1365D60F58}"/>
              </a:ext>
            </a:extLst>
          </p:cNvPr>
          <p:cNvSpPr txBox="1"/>
          <p:nvPr/>
        </p:nvSpPr>
        <p:spPr>
          <a:xfrm>
            <a:off x="1795384" y="226211"/>
            <a:ext cx="8607181" cy="15881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5400" b="1" cap="all" spc="150">
                <a:latin typeface="+mj-lt"/>
                <a:ea typeface="+mj-ea"/>
                <a:cs typeface="+mj-cs"/>
              </a:rPr>
              <a:t>Check in to give us food money</a:t>
            </a:r>
            <a:endParaRPr lang="en-US" sz="5400" b="1" cap="all" spc="150">
              <a:ea typeface="+mj-ea"/>
              <a:cs typeface="+mj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4480E3-F210-0EAD-0DD8-AB4B4BBF7FB7}"/>
              </a:ext>
            </a:extLst>
          </p:cNvPr>
          <p:cNvSpPr txBox="1"/>
          <p:nvPr/>
        </p:nvSpPr>
        <p:spPr>
          <a:xfrm>
            <a:off x="1436914" y="2650671"/>
            <a:ext cx="177437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1800" b="0" i="0" u="none" strike="noStrike" baseline="0">
                <a:solidFill>
                  <a:srgbClr val="000000"/>
                </a:solidFill>
                <a:latin typeface="Tenorite"/>
              </a:rPr>
              <a:t> </a:t>
            </a:r>
            <a:endParaRPr lang="en-US" sz="2400" b="0" i="0">
              <a:solidFill>
                <a:srgbClr val="FF0000"/>
              </a:solidFill>
              <a:latin typeface="Tenorite"/>
            </a:endParaRPr>
          </a:p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F88473-6AC9-671B-7750-CA6014BD0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9070" y="1710373"/>
            <a:ext cx="3943128" cy="388110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6E0C567-BFD9-E3D2-DFB3-34273ECF9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880" y="1940560"/>
            <a:ext cx="3942080" cy="388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527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105" y="2760830"/>
            <a:ext cx="9864275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b="1">
                <a:solidFill>
                  <a:schemeClr val="tx1"/>
                </a:solidFill>
              </a:rPr>
              <a:t>Agents 007: (a brief) </a:t>
            </a:r>
            <a:r>
              <a:rPr lang="en-US" sz="5400" b="1" err="1">
                <a:solidFill>
                  <a:schemeClr val="tx1"/>
                </a:solidFill>
              </a:rPr>
              <a:t>iNTRO</a:t>
            </a:r>
            <a:r>
              <a:rPr lang="en-US" sz="5400" b="1">
                <a:solidFill>
                  <a:schemeClr val="tx1"/>
                </a:solidFill>
              </a:rPr>
              <a:t> TO ai </a:t>
            </a:r>
            <a:r>
              <a:rPr lang="en-US" sz="5400" b="1" err="1">
                <a:solidFill>
                  <a:schemeClr val="tx1"/>
                </a:solidFill>
              </a:rPr>
              <a:t>eNGINEERING</a:t>
            </a:r>
            <a:endParaRPr lang="en-US" sz="5400" b="1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45989" y="5531374"/>
            <a:ext cx="6158513" cy="823912"/>
          </a:xfrm>
        </p:spPr>
        <p:txBody>
          <a:bodyPr anchor="b">
            <a:normAutofit/>
          </a:bodyPr>
          <a:lstStyle/>
          <a:p>
            <a:r>
              <a:rPr lang="en-US" b="1">
                <a:solidFill>
                  <a:schemeClr val="tx1"/>
                </a:solidFill>
              </a:rPr>
              <a:t>Caio Carraro </a:t>
            </a:r>
            <a:r>
              <a:rPr lang="en-US" b="1" err="1">
                <a:solidFill>
                  <a:schemeClr val="tx1"/>
                </a:solidFill>
              </a:rPr>
              <a:t>Bahlis</a:t>
            </a:r>
            <a:r>
              <a:rPr lang="en-US" b="1">
                <a:solidFill>
                  <a:schemeClr val="tx1"/>
                </a:solidFill>
              </a:rPr>
              <a:t> | Software Tech Lead</a:t>
            </a:r>
          </a:p>
        </p:txBody>
      </p:sp>
      <p:sp>
        <p:nvSpPr>
          <p:cNvPr id="14" name="Date Placeholder 6">
            <a:extLst>
              <a:ext uri="{FF2B5EF4-FFF2-40B4-BE49-F238E27FC236}">
                <a16:creationId xmlns:a16="http://schemas.microsoft.com/office/drawing/2014/main" id="{36D02C34-B147-0AD6-E7B1-D44D1A7839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20XX</a:t>
            </a:r>
          </a:p>
        </p:txBody>
      </p:sp>
      <p:sp>
        <p:nvSpPr>
          <p:cNvPr id="18" name="Slide Number Placeholder 8">
            <a:extLst>
              <a:ext uri="{FF2B5EF4-FFF2-40B4-BE49-F238E27FC236}">
                <a16:creationId xmlns:a16="http://schemas.microsoft.com/office/drawing/2014/main" id="{E74A79D9-197D-6441-3F2A-D052017E4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CF4C71-171D-5E3E-3C66-132E200A7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8407" y="185438"/>
            <a:ext cx="4172631" cy="2004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8F7492-4109-419E-D183-83650A720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BF38A1-4B27-EB3C-F22D-8F02ABDE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12521A-D7D3-D4A8-8A26-0B39FC24C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3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ACC4907-174A-FCB0-1719-A11509A37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194" y="411078"/>
            <a:ext cx="4523874" cy="56548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E524E61-6B93-90CC-081B-C7FCF4C37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6853" y="411078"/>
            <a:ext cx="4522741" cy="566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322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71234-214B-8395-AB58-77143B8D3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DABCFE-04FC-9ECB-99F8-0E5947361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EFE612-462A-C7D6-ABA1-DF85318FF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2C4B66-C32D-B35F-1DB0-1A29C618D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4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E0BA9A-F936-F7F1-365F-6666B5470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558" y="304800"/>
            <a:ext cx="4858564" cy="60553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D5F5EC6-1DA0-2A25-7A9D-87DFD0CE2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040" y="304800"/>
            <a:ext cx="4856480" cy="605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409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0BF6865-7FAE-4B56-A995-ADF1582DCC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7312B71A-5E84-41DE-9754-5F6291F6D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/>
          <a:p>
            <a:r>
              <a:rPr lang="en-US"/>
              <a:t>Pitch Deck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3984D70-BD95-4E1F-9725-902B5D74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4" name="Picture 13" descr="A qr code with text&#10;&#10;AI-generated content may be incorrect.">
            <a:extLst>
              <a:ext uri="{FF2B5EF4-FFF2-40B4-BE49-F238E27FC236}">
                <a16:creationId xmlns:a16="http://schemas.microsoft.com/office/drawing/2014/main" id="{D656264D-2C61-E8A5-38D8-617D32526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97" t="719" r="231" b="1901"/>
          <a:stretch>
            <a:fillRect/>
          </a:stretch>
        </p:blipFill>
        <p:spPr>
          <a:xfrm>
            <a:off x="1648" y="-26964"/>
            <a:ext cx="12411519" cy="688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934DA-6F8C-9980-B1EE-B1F27C4B8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B4D6DEC8-9E7C-C308-F750-4E670C6F6929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7B03D763-95CB-EB5D-7B81-AC1E1B557D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Caio Carraro </a:t>
            </a:r>
            <a:r>
              <a:rPr lang="en-US" err="1"/>
              <a:t>Bahlis</a:t>
            </a:r>
          </a:p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319F029-B7C3-BE6F-1123-CFD04976A7C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6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5060CC-2492-2498-81E3-C636F8C3050C}"/>
              </a:ext>
            </a:extLst>
          </p:cNvPr>
          <p:cNvSpPr txBox="1"/>
          <p:nvPr/>
        </p:nvSpPr>
        <p:spPr>
          <a:xfrm>
            <a:off x="2220686" y="288471"/>
            <a:ext cx="7092042" cy="5909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3600" b="1" cap="all" spc="150">
                <a:latin typeface="+mj-lt"/>
                <a:ea typeface="+mj-ea"/>
                <a:cs typeface="+mj-cs"/>
              </a:rPr>
              <a:t>Who Am I???</a:t>
            </a:r>
          </a:p>
        </p:txBody>
      </p:sp>
      <p:pic>
        <p:nvPicPr>
          <p:cNvPr id="17" name="Picture 16" descr="Two men standing on a ledge with a body of water and a city in the background&#10;&#10;AI-generated content may be incorrect.">
            <a:extLst>
              <a:ext uri="{FF2B5EF4-FFF2-40B4-BE49-F238E27FC236}">
                <a16:creationId xmlns:a16="http://schemas.microsoft.com/office/drawing/2014/main" id="{E0BC67FF-C6A1-85B6-41DD-A15655311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59" y="1556657"/>
            <a:ext cx="5682343" cy="4261758"/>
          </a:xfrm>
          <a:prstGeom prst="rect">
            <a:avLst/>
          </a:prstGeom>
        </p:spPr>
      </p:pic>
      <p:sp>
        <p:nvSpPr>
          <p:cNvPr id="20" name="Arrow: Left 19">
            <a:extLst>
              <a:ext uri="{FF2B5EF4-FFF2-40B4-BE49-F238E27FC236}">
                <a16:creationId xmlns:a16="http://schemas.microsoft.com/office/drawing/2014/main" id="{51DDC2AA-51B2-8CBD-E769-A3E23B5ED5FB}"/>
              </a:ext>
            </a:extLst>
          </p:cNvPr>
          <p:cNvSpPr/>
          <p:nvPr/>
        </p:nvSpPr>
        <p:spPr>
          <a:xfrm rot="14700000">
            <a:off x="1580118" y="3280825"/>
            <a:ext cx="624789" cy="29201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Left 23">
            <a:extLst>
              <a:ext uri="{FF2B5EF4-FFF2-40B4-BE49-F238E27FC236}">
                <a16:creationId xmlns:a16="http://schemas.microsoft.com/office/drawing/2014/main" id="{178DDE86-95F0-E080-68BA-AD2723F554FE}"/>
              </a:ext>
            </a:extLst>
          </p:cNvPr>
          <p:cNvSpPr/>
          <p:nvPr/>
        </p:nvSpPr>
        <p:spPr>
          <a:xfrm rot="-2640000">
            <a:off x="3642960" y="3727139"/>
            <a:ext cx="624789" cy="29201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9849DF-EF9D-B131-58A9-575F8F8E61C7}"/>
              </a:ext>
            </a:extLst>
          </p:cNvPr>
          <p:cNvSpPr txBox="1"/>
          <p:nvPr/>
        </p:nvSpPr>
        <p:spPr>
          <a:xfrm>
            <a:off x="4040372" y="2977116"/>
            <a:ext cx="142948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Not Me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4DFD6B-6EC2-679A-B5EC-1F96E01172C5}"/>
              </a:ext>
            </a:extLst>
          </p:cNvPr>
          <p:cNvSpPr txBox="1"/>
          <p:nvPr/>
        </p:nvSpPr>
        <p:spPr>
          <a:xfrm>
            <a:off x="1436914" y="2650671"/>
            <a:ext cx="1774372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1800" b="0" i="0" u="none" strike="noStrike" baseline="0">
                <a:solidFill>
                  <a:srgbClr val="000000"/>
                </a:solidFill>
                <a:latin typeface="Tenorite"/>
              </a:rPr>
              <a:t> </a:t>
            </a:r>
            <a:r>
              <a:rPr lang="en-US" sz="2400" b="0" i="0" u="none" strike="noStrike" baseline="0">
                <a:solidFill>
                  <a:srgbClr val="FF0000"/>
                </a:solidFill>
                <a:latin typeface="Tenorite"/>
              </a:rPr>
              <a:t>Me</a:t>
            </a:r>
            <a:r>
              <a:rPr lang="en-US" sz="2400">
                <a:solidFill>
                  <a:srgbClr val="FF0000"/>
                </a:solidFill>
                <a:latin typeface="Tenorite"/>
              </a:rPr>
              <a:t>!!!</a:t>
            </a:r>
            <a:r>
              <a:rPr lang="en-US" sz="2400" b="0" i="0">
                <a:solidFill>
                  <a:srgbClr val="FF0000"/>
                </a:solidFill>
                <a:latin typeface="Tenorite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004235-14A2-F173-4DE6-70681F695852}"/>
              </a:ext>
            </a:extLst>
          </p:cNvPr>
          <p:cNvSpPr txBox="1"/>
          <p:nvPr/>
        </p:nvSpPr>
        <p:spPr>
          <a:xfrm>
            <a:off x="6397170" y="1555559"/>
            <a:ext cx="5796980" cy="61555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/>
              <a:t>Senior </a:t>
            </a:r>
          </a:p>
          <a:p>
            <a:pPr marL="285750" indent="-285750">
              <a:buFont typeface="Arial"/>
              <a:buChar char="•"/>
            </a:pPr>
            <a:r>
              <a:rPr lang="en-US" sz="2400"/>
              <a:t>Computer Science &amp; Math Minor</a:t>
            </a:r>
          </a:p>
          <a:p>
            <a:pPr marL="285750" indent="-285750">
              <a:buFont typeface="Arial"/>
              <a:buChar char="•"/>
            </a:pPr>
            <a:r>
              <a:rPr lang="en-US" sz="2400"/>
              <a:t>Brazilian &amp; Italian</a:t>
            </a:r>
          </a:p>
          <a:p>
            <a:pPr marL="285750" indent="-285750">
              <a:buFont typeface="Arial"/>
              <a:buChar char="•"/>
            </a:pPr>
            <a:r>
              <a:rPr lang="en-US" sz="2400"/>
              <a:t>World's #1 Sudoku Player during August, 2023</a:t>
            </a:r>
          </a:p>
          <a:p>
            <a:pPr marL="285750" indent="-285750">
              <a:buFont typeface="Arial"/>
              <a:buChar char="•"/>
            </a:pPr>
            <a:r>
              <a:rPr lang="en-US" sz="2400"/>
              <a:t>Hobbies: Gym, Biking, Lockpicking, Computers, Videogames, Music</a:t>
            </a:r>
          </a:p>
          <a:p>
            <a:pPr marL="285750" indent="-285750">
              <a:buFont typeface="Arial"/>
              <a:buChar char="•"/>
            </a:pPr>
            <a:r>
              <a:rPr lang="en-US" sz="2400"/>
              <a:t>I talk a lot</a:t>
            </a:r>
          </a:p>
          <a:p>
            <a:pPr marL="285750" indent="-285750">
              <a:buFont typeface="Arial"/>
              <a:buChar char="•"/>
            </a:pPr>
            <a:r>
              <a:rPr lang="en-US" sz="2400"/>
              <a:t>Amazing Grill master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400"/>
              <a:t>Love &amp; Hate relationship with Gremio</a:t>
            </a:r>
          </a:p>
          <a:p>
            <a:pPr marL="285750" indent="-285750">
              <a:buFont typeface="Arial"/>
              <a:buChar char="•"/>
            </a:pPr>
            <a:r>
              <a:rPr lang="en-US" sz="2400"/>
              <a:t>Favorite Bands (now): Stone Temple Pilots, The Black Keys, Linkin Park, Racionais MC</a:t>
            </a:r>
          </a:p>
          <a:p>
            <a:pPr marL="285750" indent="-285750">
              <a:buFont typeface="Arial"/>
              <a:buChar char="•"/>
            </a:pPr>
            <a:endParaRPr lang="en-US" sz="2000"/>
          </a:p>
          <a:p>
            <a:pPr marL="285750" indent="-285750">
              <a:buFont typeface="Arial"/>
              <a:buChar char="•"/>
            </a:pPr>
            <a:endParaRPr lang="en-US" sz="2000"/>
          </a:p>
          <a:p>
            <a:pPr marL="285750" indent="-285750">
              <a:buFont typeface="Arial"/>
              <a:buChar char="•"/>
            </a:pPr>
            <a:endParaRPr lang="en-US" sz="2400"/>
          </a:p>
          <a:p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6E4485-83AE-4F46-C921-8E5B64A697E6}"/>
              </a:ext>
            </a:extLst>
          </p:cNvPr>
          <p:cNvSpPr txBox="1"/>
          <p:nvPr/>
        </p:nvSpPr>
        <p:spPr>
          <a:xfrm>
            <a:off x="7574938" y="1030092"/>
            <a:ext cx="343786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/>
              <a:t>Facts About Me</a:t>
            </a:r>
          </a:p>
        </p:txBody>
      </p:sp>
    </p:spTree>
    <p:extLst>
      <p:ext uri="{BB962C8B-B14F-4D97-AF65-F5344CB8AC3E}">
        <p14:creationId xmlns:p14="http://schemas.microsoft.com/office/powerpoint/2010/main" val="2330232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Date Placeholder 79">
            <a:extLst>
              <a:ext uri="{FF2B5EF4-FFF2-40B4-BE49-F238E27FC236}">
                <a16:creationId xmlns:a16="http://schemas.microsoft.com/office/drawing/2014/main" id="{BC1F9D86-85D8-4FD0-B0D3-47D778722782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81" name="Footer Placeholder 80">
            <a:extLst>
              <a:ext uri="{FF2B5EF4-FFF2-40B4-BE49-F238E27FC236}">
                <a16:creationId xmlns:a16="http://schemas.microsoft.com/office/drawing/2014/main" id="{E94F1D24-E4A1-4B59-B57E-A28453963B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Caio Carraro </a:t>
            </a:r>
            <a:r>
              <a:rPr lang="en-US" err="1"/>
              <a:t>Bahlis</a:t>
            </a:r>
          </a:p>
          <a:p>
            <a:endParaRPr lang="en-US"/>
          </a:p>
        </p:txBody>
      </p:sp>
      <p:sp>
        <p:nvSpPr>
          <p:cNvPr id="82" name="Slide Number Placeholder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AE1ABFDC-DBF6-D0FC-364A-638141D5D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-2968"/>
            <a:ext cx="8421688" cy="1325563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tx1"/>
                </a:solidFill>
              </a:rPr>
              <a:t>WORKSHOP Agenda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C02F40-4F98-74B4-C2EF-022CC010337C}"/>
              </a:ext>
            </a:extLst>
          </p:cNvPr>
          <p:cNvSpPr txBox="1"/>
          <p:nvPr/>
        </p:nvSpPr>
        <p:spPr>
          <a:xfrm>
            <a:off x="324964" y="1326166"/>
            <a:ext cx="10514847" cy="57554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ea typeface="+mn-lt"/>
                <a:cs typeface="+mn-lt"/>
              </a:rPr>
              <a:t>What is an AI Agent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ea typeface="+mn-lt"/>
                <a:cs typeface="+mn-lt"/>
              </a:rPr>
              <a:t>What is a LLM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ea typeface="+mn-lt"/>
                <a:cs typeface="+mn-lt"/>
              </a:rPr>
              <a:t>Agent Building Blocks</a:t>
            </a: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ea typeface="+mn-lt"/>
                <a:cs typeface="+mn-lt"/>
              </a:rPr>
              <a:t>LangChain &amp; LangGraph (concept)</a:t>
            </a:r>
            <a:endParaRPr lang="en-US" sz="3200" b="1"/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 sz="3200" b="1" dirty="0">
                <a:ea typeface="+mn-lt"/>
                <a:cs typeface="+mn-lt"/>
              </a:rPr>
              <a:t>Food Break</a:t>
            </a:r>
            <a:endParaRPr lang="en-US" sz="3200" dirty="0"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ea typeface="+mn-lt"/>
                <a:cs typeface="+mn-lt"/>
              </a:rPr>
              <a:t>Framework Fundamentals </a:t>
            </a: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ea typeface="+mn-lt"/>
                <a:cs typeface="+mn-lt"/>
              </a:rPr>
              <a:t>Our Amazing Demo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ea typeface="+mn-lt"/>
                <a:cs typeface="+mn-lt"/>
              </a:rPr>
              <a:t>QA</a:t>
            </a:r>
            <a:endParaRPr lang="en-US" sz="3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/>
          </a:p>
        </p:txBody>
      </p:sp>
      <p:pic>
        <p:nvPicPr>
          <p:cNvPr id="40" name="Picture 39" descr="A cat with a computer screen&#10;&#10;AI-generated content may be incorrect.">
            <a:extLst>
              <a:ext uri="{FF2B5EF4-FFF2-40B4-BE49-F238E27FC236}">
                <a16:creationId xmlns:a16="http://schemas.microsoft.com/office/drawing/2014/main" id="{BFFDC9C9-0E31-D75C-7B72-EA815B98D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763" y="2049008"/>
            <a:ext cx="4103818" cy="305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25F5A-3829-1836-D446-69ED6176E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7" y="-452"/>
            <a:ext cx="12185704" cy="1167908"/>
          </a:xfrm>
        </p:spPr>
        <p:txBody>
          <a:bodyPr>
            <a:normAutofit/>
          </a:bodyPr>
          <a:lstStyle/>
          <a:p>
            <a:r>
              <a:rPr lang="en-US" sz="5400" b="1">
                <a:solidFill>
                  <a:schemeClr val="tx1"/>
                </a:solidFill>
              </a:rPr>
              <a:t>What's an AI agent anyway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B659881E-7523-D096-7739-7519E362133D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5E23ABE-DC99-C8F3-2B99-5C187BE3916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Caio Carraro </a:t>
            </a:r>
            <a:r>
              <a:rPr lang="en-US" err="1"/>
              <a:t>Bahlis</a:t>
            </a:r>
          </a:p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FD3CB84-F1AC-69B1-5048-58DC2514E199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8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74F363-44AE-6A22-6D1D-B708FA7305E4}"/>
              </a:ext>
            </a:extLst>
          </p:cNvPr>
          <p:cNvSpPr txBox="1"/>
          <p:nvPr/>
        </p:nvSpPr>
        <p:spPr>
          <a:xfrm>
            <a:off x="431313" y="1491562"/>
            <a:ext cx="6556744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Agents are used in multiple different contexts. For this workshop, an agent is a </a:t>
            </a:r>
            <a:r>
              <a:rPr lang="en-US" sz="2400" b="1"/>
              <a:t>LLM based system that is capable of observing an environment</a:t>
            </a:r>
            <a:r>
              <a:rPr lang="en-US" sz="2400"/>
              <a:t>, </a:t>
            </a:r>
            <a:r>
              <a:rPr lang="en-US" sz="2400" b="1"/>
              <a:t>thinking, making a decision and repeating the process.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24E9A2-7B02-D50B-82FB-775529216285}"/>
              </a:ext>
            </a:extLst>
          </p:cNvPr>
          <p:cNvSpPr/>
          <p:nvPr/>
        </p:nvSpPr>
        <p:spPr>
          <a:xfrm>
            <a:off x="8152086" y="1510861"/>
            <a:ext cx="2982310" cy="7620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Market State </a:t>
            </a:r>
          </a:p>
        </p:txBody>
      </p:sp>
      <p:sp>
        <p:nvSpPr>
          <p:cNvPr id="9" name="Arrow: Up 8">
            <a:extLst>
              <a:ext uri="{FF2B5EF4-FFF2-40B4-BE49-F238E27FC236}">
                <a16:creationId xmlns:a16="http://schemas.microsoft.com/office/drawing/2014/main" id="{98ECACBA-63F2-30A5-923E-3B5516AC0809}"/>
              </a:ext>
            </a:extLst>
          </p:cNvPr>
          <p:cNvSpPr/>
          <p:nvPr/>
        </p:nvSpPr>
        <p:spPr>
          <a:xfrm rot="10800000">
            <a:off x="9383994" y="2350844"/>
            <a:ext cx="513029" cy="1237306"/>
          </a:xfrm>
          <a:prstGeom prst="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Decision 9">
            <a:extLst>
              <a:ext uri="{FF2B5EF4-FFF2-40B4-BE49-F238E27FC236}">
                <a16:creationId xmlns:a16="http://schemas.microsoft.com/office/drawing/2014/main" id="{55DF835F-19F3-4C32-BB2E-56E7294D2CA1}"/>
              </a:ext>
            </a:extLst>
          </p:cNvPr>
          <p:cNvSpPr/>
          <p:nvPr/>
        </p:nvSpPr>
        <p:spPr>
          <a:xfrm>
            <a:off x="8559362" y="3691758"/>
            <a:ext cx="2128345" cy="1011621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5283C7-BEA8-482B-88E1-73E705204622}"/>
              </a:ext>
            </a:extLst>
          </p:cNvPr>
          <p:cNvSpPr txBox="1"/>
          <p:nvPr/>
        </p:nvSpPr>
        <p:spPr>
          <a:xfrm>
            <a:off x="6608379" y="3967655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AI Agent </a:t>
            </a:r>
          </a:p>
        </p:txBody>
      </p:sp>
      <p:sp>
        <p:nvSpPr>
          <p:cNvPr id="16" name="Arrow: Bent 15">
            <a:extLst>
              <a:ext uri="{FF2B5EF4-FFF2-40B4-BE49-F238E27FC236}">
                <a16:creationId xmlns:a16="http://schemas.microsoft.com/office/drawing/2014/main" id="{25586B4F-9AE6-4D1E-D871-01B8B9C57F53}"/>
              </a:ext>
            </a:extLst>
          </p:cNvPr>
          <p:cNvSpPr/>
          <p:nvPr/>
        </p:nvSpPr>
        <p:spPr>
          <a:xfrm rot="5400000">
            <a:off x="9997965" y="4788776"/>
            <a:ext cx="1037896" cy="61748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Arrow: Bent 16">
            <a:extLst>
              <a:ext uri="{FF2B5EF4-FFF2-40B4-BE49-F238E27FC236}">
                <a16:creationId xmlns:a16="http://schemas.microsoft.com/office/drawing/2014/main" id="{047D8534-D61D-4068-BC7B-BABEE9397CB8}"/>
              </a:ext>
            </a:extLst>
          </p:cNvPr>
          <p:cNvSpPr/>
          <p:nvPr/>
        </p:nvSpPr>
        <p:spPr>
          <a:xfrm rot="16200000" flipH="1">
            <a:off x="8094279" y="4788025"/>
            <a:ext cx="1037896" cy="61748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C233D2-9B47-CDDE-AB52-A093893B4957}"/>
              </a:ext>
            </a:extLst>
          </p:cNvPr>
          <p:cNvSpPr/>
          <p:nvPr/>
        </p:nvSpPr>
        <p:spPr>
          <a:xfrm>
            <a:off x="7626568" y="5747843"/>
            <a:ext cx="1865588" cy="400709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Buy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81FDA71-6BB7-EE40-967C-A7C865FAB51A}"/>
              </a:ext>
            </a:extLst>
          </p:cNvPr>
          <p:cNvSpPr/>
          <p:nvPr/>
        </p:nvSpPr>
        <p:spPr>
          <a:xfrm>
            <a:off x="9754913" y="5747843"/>
            <a:ext cx="1865588" cy="400709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Sell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F35B92-6B96-77C0-D939-3B736FCA9358}"/>
              </a:ext>
            </a:extLst>
          </p:cNvPr>
          <p:cNvSpPr txBox="1"/>
          <p:nvPr/>
        </p:nvSpPr>
        <p:spPr>
          <a:xfrm>
            <a:off x="433552" y="3731172"/>
            <a:ext cx="6096000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Tenorite"/>
              </a:rPr>
              <a:t>At first, it seems that Agents are just overglorified ChatGPT wrappers (not totally wrong), but they are extremely </a:t>
            </a:r>
            <a:r>
              <a:rPr lang="en-US" sz="2400" b="1">
                <a:latin typeface="Tenorite"/>
              </a:rPr>
              <a:t>powerful tools</a:t>
            </a:r>
            <a:r>
              <a:rPr lang="en-US" sz="2400">
                <a:latin typeface="Tenorite"/>
              </a:rPr>
              <a:t>, capable of automating even the most complex of tasks. </a:t>
            </a:r>
            <a:endParaRPr lang="en-US" sz="2400" b="0" i="0">
              <a:latin typeface="Tenorite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182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4FBBF-BC61-F389-3A9E-CA737765C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3" y="-1202"/>
            <a:ext cx="12160804" cy="133442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5400" b="1">
                <a:solidFill>
                  <a:schemeClr val="tx1"/>
                </a:solidFill>
              </a:rPr>
              <a:t>Explain </a:t>
            </a:r>
            <a:r>
              <a:rPr lang="en-US" sz="5400" b="1" err="1">
                <a:solidFill>
                  <a:schemeClr val="tx1"/>
                </a:solidFill>
              </a:rPr>
              <a:t>llms</a:t>
            </a:r>
            <a:r>
              <a:rPr lang="en-US" sz="5400" b="1">
                <a:solidFill>
                  <a:schemeClr val="tx1"/>
                </a:solidFill>
              </a:rPr>
              <a:t> like I'm 5 years old.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937ABCE-B40D-BDA8-4890-FE03F0F18B4C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639C10A-3A0F-1D57-545B-36D8625D2684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5180"/>
            <a:ext cx="4114800" cy="365125"/>
          </a:xfrm>
        </p:spPr>
        <p:txBody>
          <a:bodyPr/>
          <a:lstStyle/>
          <a:p>
            <a:r>
              <a:rPr lang="en-US"/>
              <a:t>Caio Carraro </a:t>
            </a:r>
            <a:r>
              <a:rPr lang="en-US" err="1"/>
              <a:t>Bahlis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7972D85-8DA5-5BB2-CE10-C70D9B49E56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D4DAC4-2B46-8A77-CFB7-520BF2D0D851}"/>
              </a:ext>
            </a:extLst>
          </p:cNvPr>
          <p:cNvSpPr txBox="1"/>
          <p:nvPr/>
        </p:nvSpPr>
        <p:spPr>
          <a:xfrm>
            <a:off x="1550276" y="1097018"/>
            <a:ext cx="909144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ea typeface="+mn-lt"/>
                <a:cs typeface="+mn-lt"/>
              </a:rPr>
              <a:t>"An LLM is a machine that predicts the next word in a sentence."</a:t>
            </a:r>
            <a:endParaRPr lang="en-US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4FC2B2-E8D3-9FCD-3333-5D32E0D14CE8}"/>
              </a:ext>
            </a:extLst>
          </p:cNvPr>
          <p:cNvSpPr txBox="1"/>
          <p:nvPr/>
        </p:nvSpPr>
        <p:spPr>
          <a:xfrm>
            <a:off x="183930" y="2042949"/>
            <a:ext cx="6995946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>
                <a:ea typeface="+mn-lt"/>
                <a:cs typeface="+mn-lt"/>
              </a:rPr>
              <a:t>Curiosity killed the _? (Cat 100%)</a:t>
            </a:r>
            <a:br>
              <a:rPr lang="en-US" sz="2200">
                <a:ea typeface="+mn-lt"/>
                <a:cs typeface="+mn-lt"/>
              </a:rPr>
            </a:br>
            <a:r>
              <a:rPr lang="en-US" sz="2200">
                <a:ea typeface="+mn-lt"/>
                <a:cs typeface="+mn-lt"/>
              </a:rPr>
              <a:t>It was a dark and stormy ___?  (Night 50%, Day 20%)</a:t>
            </a:r>
            <a:br>
              <a:rPr lang="en-US" sz="2200">
                <a:ea typeface="+mn-lt"/>
                <a:cs typeface="+mn-lt"/>
              </a:rPr>
            </a:br>
            <a:r>
              <a:rPr lang="en-US" sz="2200">
                <a:ea typeface="+mn-lt"/>
                <a:cs typeface="+mn-lt"/>
              </a:rPr>
              <a:t>All roads lead to _ ? (Rome 50%, </a:t>
            </a:r>
            <a:r>
              <a:rPr lang="en-US">
                <a:ea typeface="+mn-lt"/>
                <a:cs typeface="+mn-lt"/>
              </a:rPr>
              <a:t>Renato </a:t>
            </a:r>
            <a:r>
              <a:rPr lang="en-US" err="1">
                <a:ea typeface="+mn-lt"/>
                <a:cs typeface="+mn-lt"/>
              </a:rPr>
              <a:t>Portaluppi</a:t>
            </a:r>
            <a:r>
              <a:rPr lang="en-US">
                <a:ea typeface="+mn-lt"/>
                <a:cs typeface="+mn-lt"/>
              </a:rPr>
              <a:t> 10%</a:t>
            </a:r>
            <a:r>
              <a:rPr lang="en-US" sz="2200">
                <a:ea typeface="+mn-lt"/>
                <a:cs typeface="+mn-lt"/>
              </a:rPr>
              <a:t>)</a:t>
            </a:r>
            <a:endParaRPr lang="en-US" sz="2200"/>
          </a:p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D3A722-2685-EE66-08B7-E44D537A6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5615" y="1910808"/>
            <a:ext cx="4503353" cy="481143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BC0FDEB-2A41-C203-BA89-B9FCAD25037B}"/>
              </a:ext>
            </a:extLst>
          </p:cNvPr>
          <p:cNvSpPr txBox="1"/>
          <p:nvPr/>
        </p:nvSpPr>
        <p:spPr>
          <a:xfrm>
            <a:off x="181181" y="3426555"/>
            <a:ext cx="5458809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/>
              <a:t>LLMs are what </a:t>
            </a:r>
            <a:r>
              <a:rPr lang="en-US" sz="2200" b="1"/>
              <a:t>power </a:t>
            </a:r>
            <a:r>
              <a:rPr lang="en-US" sz="2200"/>
              <a:t>ChatGPT, Claude and many other AI Models.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D0C5862-B65B-AADD-9A12-654308A4141E}"/>
              </a:ext>
            </a:extLst>
          </p:cNvPr>
          <p:cNvSpPr txBox="1"/>
          <p:nvPr/>
        </p:nvSpPr>
        <p:spPr>
          <a:xfrm>
            <a:off x="181180" y="4595678"/>
            <a:ext cx="5925206" cy="17851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dirty="0"/>
              <a:t>GPT-6, for example, was trained on </a:t>
            </a:r>
            <a:r>
              <a:rPr lang="en-US" sz="2200" dirty="0">
                <a:ea typeface="+mn-lt"/>
                <a:cs typeface="+mn-lt"/>
              </a:rPr>
              <a:t>13 trillion tokens. After reading that much, you start understanding seemingly invisible patterns in language. About the number of words 32.500 people say in their lifetime.</a:t>
            </a:r>
          </a:p>
        </p:txBody>
      </p:sp>
    </p:spTree>
    <p:extLst>
      <p:ext uri="{BB962C8B-B14F-4D97-AF65-F5344CB8AC3E}">
        <p14:creationId xmlns:p14="http://schemas.microsoft.com/office/powerpoint/2010/main" val="3496034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56CD3C7-539F-7B40-3C35-54813BEBC7C4}"/>
              </a:ext>
            </a:extLst>
          </p:cNvPr>
          <p:cNvSpPr/>
          <p:nvPr/>
        </p:nvSpPr>
        <p:spPr>
          <a:xfrm>
            <a:off x="5820228" y="6371771"/>
            <a:ext cx="798285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A74D661B-510C-4CF2-BF77-3EAFB649883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7E44CAC0-3B5A-49F6-A2CB-0BC80D111A8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76811" y="6370864"/>
            <a:ext cx="3243942" cy="365125"/>
          </a:xfrm>
        </p:spPr>
        <p:txBody>
          <a:bodyPr/>
          <a:lstStyle/>
          <a:p>
            <a:r>
              <a:rPr lang="en-US"/>
              <a:t>Caio Carraro </a:t>
            </a:r>
            <a:r>
              <a:rPr lang="en-US" err="1"/>
              <a:t>Bahlis</a:t>
            </a:r>
          </a:p>
          <a:p>
            <a:endParaRPr lang="en-US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F0A9BC8B-2503-EF6A-9D72-00708D0E5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357" y="-389737"/>
            <a:ext cx="9786030" cy="1325563"/>
          </a:xfrm>
        </p:spPr>
        <p:txBody>
          <a:bodyPr/>
          <a:lstStyle/>
          <a:p>
            <a:pPr algn="ctr"/>
            <a:r>
              <a:rPr lang="en-US" sz="5400" b="1">
                <a:solidFill>
                  <a:schemeClr val="tx1"/>
                </a:solidFill>
              </a:rPr>
              <a:t>Agent </a:t>
            </a:r>
            <a:r>
              <a:rPr lang="en-US" sz="5400" b="1" err="1">
                <a:solidFill>
                  <a:schemeClr val="tx1"/>
                </a:solidFill>
              </a:rPr>
              <a:t>buILDING</a:t>
            </a:r>
            <a:r>
              <a:rPr lang="en-US" sz="5400" b="1">
                <a:solidFill>
                  <a:schemeClr val="tx1"/>
                </a:solidFill>
              </a:rPr>
              <a:t> BLOCKS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45EA5C-92B9-7384-8612-FBEE7C81C757}"/>
              </a:ext>
            </a:extLst>
          </p:cNvPr>
          <p:cNvSpPr txBox="1"/>
          <p:nvPr/>
        </p:nvSpPr>
        <p:spPr>
          <a:xfrm>
            <a:off x="252639" y="1117288"/>
            <a:ext cx="637006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Agents by themselves are not that powerful, but we can connect them to different services to make them much powerful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8B866A-30E4-0077-BD3D-BF4F426C049F}"/>
              </a:ext>
            </a:extLst>
          </p:cNvPr>
          <p:cNvSpPr txBox="1"/>
          <p:nvPr/>
        </p:nvSpPr>
        <p:spPr>
          <a:xfrm>
            <a:off x="252557" y="3864221"/>
            <a:ext cx="636419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Tools: Functions coded by the user that the LLM can call to perform a function.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DD64B3-5C47-F036-B913-DA5FF2B0F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0907" y="1147097"/>
            <a:ext cx="4594634" cy="45644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CF9DDB-73E1-847A-CB78-01F3927A53E7}"/>
              </a:ext>
            </a:extLst>
          </p:cNvPr>
          <p:cNvSpPr txBox="1"/>
          <p:nvPr/>
        </p:nvSpPr>
        <p:spPr>
          <a:xfrm>
            <a:off x="256614" y="4949945"/>
            <a:ext cx="670561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Memory: Obsidian, Milvus, Pinecone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29FBEA-AC47-0E0C-3205-D786F655E254}"/>
              </a:ext>
            </a:extLst>
          </p:cNvPr>
          <p:cNvSpPr txBox="1"/>
          <p:nvPr/>
        </p:nvSpPr>
        <p:spPr>
          <a:xfrm>
            <a:off x="254323" y="5412071"/>
            <a:ext cx="668504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IDE/Coding Tools: Claude Code, Codex, Cursor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9D1DBA-193B-3A37-1FA9-6E080CD4272F}"/>
              </a:ext>
            </a:extLst>
          </p:cNvPr>
          <p:cNvSpPr txBox="1"/>
          <p:nvPr/>
        </p:nvSpPr>
        <p:spPr>
          <a:xfrm>
            <a:off x="256955" y="5964364"/>
            <a:ext cx="8337965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Planning/Reasoning: </a:t>
            </a:r>
            <a:r>
              <a:rPr lang="en-US" sz="2400">
                <a:ea typeface="+mn-lt"/>
                <a:cs typeface="+mn-lt"/>
              </a:rPr>
              <a:t>ReAct, Chain-of-thought prompting</a:t>
            </a:r>
            <a:endParaRPr lang="en-US" sz="2400"/>
          </a:p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A14D60-5901-F27E-17ED-A2165B2DA996}"/>
              </a:ext>
            </a:extLst>
          </p:cNvPr>
          <p:cNvSpPr txBox="1"/>
          <p:nvPr/>
        </p:nvSpPr>
        <p:spPr>
          <a:xfrm>
            <a:off x="242994" y="2485858"/>
            <a:ext cx="671348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All the integrations, functions and overall behavior of an agent are defined by the system prompt.</a:t>
            </a:r>
          </a:p>
        </p:txBody>
      </p:sp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E0330-5359-A1AD-CFA5-A2BCB978D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80929-094A-4625-0267-AFC8CE491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Caio Carraro </a:t>
            </a:r>
            <a:r>
              <a:rPr lang="en-US" err="1"/>
              <a:t>Bahlis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92A56-6A0C-22A1-25E6-0479F8D73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11</a:t>
            </a:fld>
            <a:endParaRPr lang="en-US"/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EACC9C9A-B2FE-360C-718A-E4EC40B5DCD5}"/>
              </a:ext>
            </a:extLst>
          </p:cNvPr>
          <p:cNvSpPr txBox="1">
            <a:spLocks/>
          </p:cNvSpPr>
          <p:nvPr/>
        </p:nvSpPr>
        <p:spPr>
          <a:xfrm>
            <a:off x="433048" y="-700311"/>
            <a:ext cx="11757311" cy="171553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b="1" err="1">
                <a:solidFill>
                  <a:schemeClr val="tx1"/>
                </a:solidFill>
              </a:rPr>
              <a:t>Langchain</a:t>
            </a:r>
            <a:r>
              <a:rPr lang="en-US" sz="5400" b="1">
                <a:solidFill>
                  <a:schemeClr val="tx1"/>
                </a:solidFill>
              </a:rPr>
              <a:t> &amp; </a:t>
            </a:r>
            <a:r>
              <a:rPr lang="en-US" sz="5400" b="1" err="1">
                <a:solidFill>
                  <a:schemeClr val="tx1"/>
                </a:solidFill>
              </a:rPr>
              <a:t>langgraph</a:t>
            </a:r>
            <a:endParaRPr lang="en-US" sz="5400" b="1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DFFDDF-8137-4329-DA51-07887B73B643}"/>
              </a:ext>
            </a:extLst>
          </p:cNvPr>
          <p:cNvSpPr txBox="1"/>
          <p:nvPr/>
        </p:nvSpPr>
        <p:spPr>
          <a:xfrm>
            <a:off x="305227" y="1115808"/>
            <a:ext cx="553106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err="1"/>
              <a:t>LangChain</a:t>
            </a:r>
            <a:r>
              <a:rPr lang="en-US" sz="2400" b="1"/>
              <a:t> </a:t>
            </a:r>
            <a:r>
              <a:rPr lang="en-US" sz="2400"/>
              <a:t>and </a:t>
            </a:r>
            <a:r>
              <a:rPr lang="en-US" sz="2400" b="1" err="1"/>
              <a:t>LangGraph</a:t>
            </a:r>
            <a:r>
              <a:rPr lang="en-US" sz="2400" b="1"/>
              <a:t> </a:t>
            </a:r>
            <a:r>
              <a:rPr lang="en-US" sz="2400"/>
              <a:t>are python frameworks that let you build agents, tools, MCP servers and much more.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242EC0-1981-6589-2037-A26EE13D56B8}"/>
              </a:ext>
            </a:extLst>
          </p:cNvPr>
          <p:cNvSpPr txBox="1"/>
          <p:nvPr/>
        </p:nvSpPr>
        <p:spPr>
          <a:xfrm>
            <a:off x="304616" y="2433267"/>
            <a:ext cx="5485086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err="1">
                <a:ea typeface="+mn-lt"/>
                <a:cs typeface="+mn-lt"/>
              </a:rPr>
              <a:t>LangChain</a:t>
            </a:r>
            <a:r>
              <a:rPr lang="en-US" sz="2400" b="1">
                <a:ea typeface="+mn-lt"/>
                <a:cs typeface="+mn-lt"/>
              </a:rPr>
              <a:t> </a:t>
            </a:r>
            <a:r>
              <a:rPr lang="en-US" sz="2400">
                <a:ea typeface="+mn-lt"/>
                <a:cs typeface="+mn-lt"/>
              </a:rPr>
              <a:t>lets you "chain" together steps, using the output of one step as the input to the next (also called chaining).</a:t>
            </a:r>
            <a:endParaRPr lang="en-US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325E8D-B44A-9B5E-0CE4-24F6C20ABAF9}"/>
              </a:ext>
            </a:extLst>
          </p:cNvPr>
          <p:cNvSpPr txBox="1"/>
          <p:nvPr/>
        </p:nvSpPr>
        <p:spPr>
          <a:xfrm>
            <a:off x="306616" y="4125617"/>
            <a:ext cx="5150068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err="1">
                <a:ea typeface="+mn-lt"/>
                <a:cs typeface="+mn-lt"/>
              </a:rPr>
              <a:t>LangGraph</a:t>
            </a:r>
            <a:r>
              <a:rPr lang="en-US" sz="2400" b="1">
                <a:ea typeface="+mn-lt"/>
                <a:cs typeface="+mn-lt"/>
              </a:rPr>
              <a:t> </a:t>
            </a:r>
            <a:r>
              <a:rPr lang="en-US" sz="2400">
                <a:ea typeface="+mn-lt"/>
                <a:cs typeface="+mn-lt"/>
              </a:rPr>
              <a:t>is geared towards the architecture of a task. Breaking it down into steps, and giving you explicit control over the execution flow between them.</a:t>
            </a:r>
            <a:endParaRPr lang="en-US" sz="2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B21380-14B2-8087-F156-3C5509322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195" y="1313792"/>
            <a:ext cx="5526229" cy="444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679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EF624-4C7E-3D00-BE01-464E4D5BE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33498" y="3213"/>
            <a:ext cx="13861674" cy="1274764"/>
          </a:xfrm>
        </p:spPr>
        <p:txBody>
          <a:bodyPr>
            <a:noAutofit/>
          </a:bodyPr>
          <a:lstStyle/>
          <a:p>
            <a:r>
              <a:rPr lang="en-US" sz="4400" b="1">
                <a:solidFill>
                  <a:schemeClr val="tx1"/>
                </a:solidFill>
              </a:rPr>
              <a:t>Enjoy our food &amp; COMPLIMENT MY CAT!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5527A65-65B9-D474-2566-B78D83FED9FE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A21D89D-12C7-9382-8F86-C270B377E64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CF86584-49B8-4E66-682A-CAEAE088491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12</a:t>
            </a:fld>
            <a:endParaRPr lang="en-US"/>
          </a:p>
        </p:txBody>
      </p:sp>
      <p:pic>
        <p:nvPicPr>
          <p:cNvPr id="15" name="Picture 14" descr="A cat sitting on a chair&#10;&#10;AI-generated content may be incorrect.">
            <a:extLst>
              <a:ext uri="{FF2B5EF4-FFF2-40B4-BE49-F238E27FC236}">
                <a16:creationId xmlns:a16="http://schemas.microsoft.com/office/drawing/2014/main" id="{FF457330-4463-69C6-8913-FDDF95E0D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837302" y="2268637"/>
            <a:ext cx="5458599" cy="3070355"/>
          </a:xfrm>
          <a:prstGeom prst="rect">
            <a:avLst/>
          </a:prstGeom>
        </p:spPr>
      </p:pic>
      <p:pic>
        <p:nvPicPr>
          <p:cNvPr id="16" name="Picture 15" descr="A cat lying on its back on a rug&#10;&#10;AI-generated content may be incorrect.">
            <a:extLst>
              <a:ext uri="{FF2B5EF4-FFF2-40B4-BE49-F238E27FC236}">
                <a16:creationId xmlns:a16="http://schemas.microsoft.com/office/drawing/2014/main" id="{BD379CE5-57AB-141C-9EDB-D8F04FA92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578" y="3193628"/>
            <a:ext cx="4951674" cy="3341517"/>
          </a:xfrm>
          <a:prstGeom prst="rect">
            <a:avLst/>
          </a:prstGeom>
        </p:spPr>
      </p:pic>
      <p:pic>
        <p:nvPicPr>
          <p:cNvPr id="17" name="Picture 16" descr="A cat lying on its back&#10;&#10;AI-generated content may be incorrect.">
            <a:extLst>
              <a:ext uri="{FF2B5EF4-FFF2-40B4-BE49-F238E27FC236}">
                <a16:creationId xmlns:a16="http://schemas.microsoft.com/office/drawing/2014/main" id="{0A66871A-39F1-4AF2-C095-9E0B916B2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632447" y="2014289"/>
            <a:ext cx="5456685" cy="359564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DEEFFD3-2871-92D0-D849-6E807EFA59DC}"/>
              </a:ext>
            </a:extLst>
          </p:cNvPr>
          <p:cNvSpPr txBox="1"/>
          <p:nvPr/>
        </p:nvSpPr>
        <p:spPr>
          <a:xfrm>
            <a:off x="7218326" y="1080976"/>
            <a:ext cx="5258123" cy="2492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Name</a:t>
            </a:r>
            <a:r>
              <a:rPr lang="en-US" sz="2000" dirty="0"/>
              <a:t>: Lumi</a:t>
            </a:r>
          </a:p>
          <a:p>
            <a:r>
              <a:rPr lang="en-US" sz="2000" b="1" dirty="0"/>
              <a:t>Weight</a:t>
            </a:r>
            <a:r>
              <a:rPr lang="en-US" sz="2000" dirty="0"/>
              <a:t>: 15 </a:t>
            </a:r>
            <a:r>
              <a:rPr lang="en-US" sz="2000" dirty="0" err="1"/>
              <a:t>lbs</a:t>
            </a:r>
            <a:endParaRPr lang="en-US" sz="2000" dirty="0"/>
          </a:p>
          <a:p>
            <a:r>
              <a:rPr lang="en-US" sz="2000" b="1" dirty="0"/>
              <a:t>Age</a:t>
            </a:r>
            <a:r>
              <a:rPr lang="en-US" sz="2000" dirty="0"/>
              <a:t>: 10</a:t>
            </a:r>
          </a:p>
          <a:p>
            <a:r>
              <a:rPr lang="en-US" sz="2000" b="1" dirty="0"/>
              <a:t>Nicknames</a:t>
            </a:r>
            <a:r>
              <a:rPr lang="en-US" sz="2000" dirty="0"/>
              <a:t>: The Cat, Tiger, The Beast, Fluff Triangle, Gray Alarm Clock, Purring Machine</a:t>
            </a:r>
          </a:p>
          <a:p>
            <a:endParaRPr lang="en-US" sz="2000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899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4CEFE-98ED-230D-A479-89894FE75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151" y="-72083"/>
            <a:ext cx="12322821" cy="1204912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5400" b="1">
                <a:solidFill>
                  <a:schemeClr val="tx1"/>
                </a:solidFill>
              </a:rPr>
              <a:t>Explain </a:t>
            </a:r>
            <a:r>
              <a:rPr lang="en-US" sz="5400" b="1" err="1">
                <a:solidFill>
                  <a:schemeClr val="tx1"/>
                </a:solidFill>
              </a:rPr>
              <a:t>langchain</a:t>
            </a:r>
            <a:r>
              <a:rPr lang="en-US" sz="5400" b="1">
                <a:solidFill>
                  <a:schemeClr val="tx1"/>
                </a:solidFill>
              </a:rPr>
              <a:t> like I'm 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A6078-146F-395D-E53F-3DB0990C7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38700" y="953122"/>
            <a:ext cx="5111750" cy="36288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b="1"/>
              <a:t>Core Concepts: Models/Wrappers, Tool, Chaining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D0610-0B7A-C8E1-7B99-65642FF2A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25096-AE26-9125-7F75-8C6F24928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D7C04-484B-8B56-E6DA-5619F42BB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77056A-FED7-CA1E-167E-7B6A65FFC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828" y="1520153"/>
            <a:ext cx="5915025" cy="47053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5FC4612-58FE-3CD4-1004-0478FB85C940}"/>
              </a:ext>
            </a:extLst>
          </p:cNvPr>
          <p:cNvSpPr txBox="1"/>
          <p:nvPr/>
        </p:nvSpPr>
        <p:spPr>
          <a:xfrm>
            <a:off x="350964" y="1308651"/>
            <a:ext cx="4598275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err="1"/>
              <a:t>Langchain</a:t>
            </a:r>
            <a:r>
              <a:rPr lang="en-US" sz="2200" b="1"/>
              <a:t> </a:t>
            </a:r>
            <a:r>
              <a:rPr lang="en-US" sz="2200"/>
              <a:t>provides native wrappers to different LLMs, letting us just call them with a simple </a:t>
            </a:r>
            <a:r>
              <a:rPr lang="en-US" sz="2200" b="1"/>
              <a:t>invoke()</a:t>
            </a:r>
            <a:r>
              <a:rPr lang="en-US" sz="2200"/>
              <a:t> call.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8CEC8E-DFBF-8BB2-7529-B6DA9F2709AC}"/>
              </a:ext>
            </a:extLst>
          </p:cNvPr>
          <p:cNvSpPr txBox="1"/>
          <p:nvPr/>
        </p:nvSpPr>
        <p:spPr>
          <a:xfrm>
            <a:off x="347583" y="2650911"/>
            <a:ext cx="4755930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err="1"/>
              <a:t>Langchain</a:t>
            </a:r>
            <a:r>
              <a:rPr lang="en-US" sz="2200" b="1"/>
              <a:t> </a:t>
            </a:r>
            <a:r>
              <a:rPr lang="en-US" sz="2200"/>
              <a:t>also has built-in classes to support Tool Calling, letting the LLM call code functions and use them in their response.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961F3C-6501-CDFB-194C-7FCDC4BA4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21" y="4093322"/>
            <a:ext cx="4745937" cy="244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087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4A6D0-1FC3-1061-559D-B9B9048EA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EBCD8-8C23-D1E7-6EEE-E62DFFF0B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947" y="4072"/>
            <a:ext cx="11035589" cy="1204912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5400" b="1">
                <a:solidFill>
                  <a:schemeClr val="tx1"/>
                </a:solidFill>
              </a:rPr>
              <a:t>Explain </a:t>
            </a:r>
            <a:r>
              <a:rPr lang="en-US" sz="5400" b="1" err="1">
                <a:solidFill>
                  <a:schemeClr val="tx1"/>
                </a:solidFill>
              </a:rPr>
              <a:t>langGraph</a:t>
            </a:r>
            <a:r>
              <a:rPr lang="en-US" sz="5400" b="1">
                <a:solidFill>
                  <a:schemeClr val="tx1"/>
                </a:solidFill>
              </a:rPr>
              <a:t> like I'm 6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FD14CE-60C6-242B-2072-CF7F5EAA8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96391" y="1205704"/>
            <a:ext cx="8345140" cy="3171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/>
              <a:t>Core Concepts: State, Nodes, Edge &amp; Conditional Edges, Graph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15FC5-B1FC-AF4E-C3D5-0BCC03932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234AB-3288-7F44-E1A4-2590729FC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4B23D-ECEC-F8F9-5F2B-F03B34455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14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A659E2-6E52-2155-46A6-C098B4008ED9}"/>
              </a:ext>
            </a:extLst>
          </p:cNvPr>
          <p:cNvSpPr txBox="1"/>
          <p:nvPr/>
        </p:nvSpPr>
        <p:spPr>
          <a:xfrm>
            <a:off x="552174" y="1710230"/>
            <a:ext cx="4993743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/>
              <a:t>Langgraph draws a execution path for your agents, and </a:t>
            </a:r>
            <a:r>
              <a:rPr lang="en-US" sz="2200" err="1"/>
              <a:t>Langchain</a:t>
            </a:r>
            <a:r>
              <a:rPr lang="en-US" sz="2200"/>
              <a:t> simply runs it.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D96F4E-FA05-3F5C-405C-1F16803F7CC5}"/>
              </a:ext>
            </a:extLst>
          </p:cNvPr>
          <p:cNvSpPr txBox="1"/>
          <p:nvPr/>
        </p:nvSpPr>
        <p:spPr>
          <a:xfrm>
            <a:off x="6263509" y="1712725"/>
            <a:ext cx="5923709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/>
              <a:t>Now, Instead of simply chaining agents blindly, we can decide when to chain them, and control the execution according to variables.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AAAFAE0-4AC8-6ED3-3B2A-5A48CA418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572" y="2923327"/>
            <a:ext cx="9330267" cy="361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922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14711-D157-5CD8-432A-DE35CBE96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23FCA0-FA8A-E57E-88AD-A156B13B5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15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132642-F6C0-BF75-E9A0-2A8D9A77B446}"/>
              </a:ext>
            </a:extLst>
          </p:cNvPr>
          <p:cNvSpPr txBox="1"/>
          <p:nvPr/>
        </p:nvSpPr>
        <p:spPr>
          <a:xfrm>
            <a:off x="128816" y="214086"/>
            <a:ext cx="1225187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/>
              <a:t>Multi Agent System Demo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FD35DF06-6B2E-B1F7-F821-E2FDAAD1765A}"/>
              </a:ext>
            </a:extLst>
          </p:cNvPr>
          <p:cNvSpPr txBox="1">
            <a:spLocks/>
          </p:cNvSpPr>
          <p:nvPr/>
        </p:nvSpPr>
        <p:spPr>
          <a:xfrm>
            <a:off x="4191000" y="65087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Caio Carraro </a:t>
            </a:r>
            <a:r>
              <a:rPr lang="en-US" err="1"/>
              <a:t>Bahlis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206DF9-DA89-82A8-4FCE-6861809CA767}"/>
              </a:ext>
            </a:extLst>
          </p:cNvPr>
          <p:cNvSpPr txBox="1"/>
          <p:nvPr/>
        </p:nvSpPr>
        <p:spPr>
          <a:xfrm>
            <a:off x="127705" y="1137757"/>
            <a:ext cx="6937237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Our Demo consists of a Resume adapter. You're can paste all your bullet points, and given a job description, the agents format the bullet points that match that description the best.</a:t>
            </a:r>
          </a:p>
          <a:p>
            <a:endParaRPr lang="en-US" sz="2400"/>
          </a:p>
          <a:p>
            <a:endParaRPr lang="en-US" sz="2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8F94F1-194A-FD4F-661E-391D26A94E01}"/>
              </a:ext>
            </a:extLst>
          </p:cNvPr>
          <p:cNvSpPr txBox="1"/>
          <p:nvPr/>
        </p:nvSpPr>
        <p:spPr>
          <a:xfrm>
            <a:off x="128377" y="2934869"/>
            <a:ext cx="6781798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In total, we're going to use 3 Agents. </a:t>
            </a:r>
          </a:p>
          <a:p>
            <a:r>
              <a:rPr lang="en-US" sz="2400"/>
              <a:t>Node 1: Receives Job Description and tailors bullet points taken from our experience.</a:t>
            </a:r>
          </a:p>
          <a:p>
            <a:endParaRPr lang="en-US" sz="2400"/>
          </a:p>
          <a:p>
            <a:r>
              <a:rPr lang="en-US" sz="2400"/>
              <a:t>Node 2: Writes a resume based on the tailored bullet points</a:t>
            </a:r>
          </a:p>
          <a:p>
            <a:endParaRPr lang="en-US" sz="2400"/>
          </a:p>
          <a:p>
            <a:r>
              <a:rPr lang="en-US" sz="2400"/>
              <a:t>Node 3: Reviews the resume for accuracy and effectiveness, and re-writes it if needed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64FDF-17E6-15B7-6073-C5B36DBF1D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5"/>
          <a:stretch>
            <a:fillRect/>
          </a:stretch>
        </p:blipFill>
        <p:spPr>
          <a:xfrm>
            <a:off x="7364983" y="1331060"/>
            <a:ext cx="4535488" cy="4479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866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DDF01-D22C-937A-0D77-E0019487C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306" y="268467"/>
            <a:ext cx="8421688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>
                <a:solidFill>
                  <a:schemeClr val="tx1"/>
                </a:solidFill>
              </a:rPr>
              <a:t>Learning resources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6716BD-7132-8C53-19E4-262723921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00EAD6-A5EA-6259-395E-C25896403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1EBAD4-98AA-113F-7DD2-09DFFDE61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16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373A5C-6343-5F8F-2500-0B887E7B2DBA}"/>
              </a:ext>
            </a:extLst>
          </p:cNvPr>
          <p:cNvSpPr txBox="1"/>
          <p:nvPr/>
        </p:nvSpPr>
        <p:spPr>
          <a:xfrm>
            <a:off x="3048859" y="1845977"/>
            <a:ext cx="415451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err="1"/>
              <a:t>Langgraph</a:t>
            </a:r>
            <a:r>
              <a:rPr lang="en-US" sz="2400"/>
              <a:t> &amp; Chain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358F94-EFA8-7E7E-9DC4-3DC920D86016}"/>
              </a:ext>
            </a:extLst>
          </p:cNvPr>
          <p:cNvSpPr txBox="1"/>
          <p:nvPr/>
        </p:nvSpPr>
        <p:spPr>
          <a:xfrm>
            <a:off x="6253095" y="1844758"/>
            <a:ext cx="60960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rgbClr val="000000"/>
                </a:solidFill>
                <a:latin typeface="Tenorite"/>
              </a:rPr>
              <a:t>AI Engineering</a:t>
            </a:r>
            <a:endParaRPr lang="en-US" sz="2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6039A5-CBEE-4A25-AF39-949B36DB8541}"/>
              </a:ext>
            </a:extLst>
          </p:cNvPr>
          <p:cNvSpPr txBox="1"/>
          <p:nvPr/>
        </p:nvSpPr>
        <p:spPr>
          <a:xfrm>
            <a:off x="61107" y="1841451"/>
            <a:ext cx="268670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LLMs from scratch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DDA80C-039D-3C80-145D-CBDC62A5786D}"/>
              </a:ext>
            </a:extLst>
          </p:cNvPr>
          <p:cNvSpPr txBox="1"/>
          <p:nvPr/>
        </p:nvSpPr>
        <p:spPr>
          <a:xfrm>
            <a:off x="9470521" y="1845266"/>
            <a:ext cx="251968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/>
              <a:t>Demo (GitHub)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79E9B5-1E9F-814F-0A87-30C04232E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47" y="2361543"/>
            <a:ext cx="2450225" cy="24896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95498F-B769-2D19-1EE1-6E4375891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0371" y="2440370"/>
            <a:ext cx="2627586" cy="24896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A4E989-0852-84A7-F359-6187E4274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1284" y="2381248"/>
            <a:ext cx="2581606" cy="26078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5DA342-9185-C756-BAC9-E624710BC3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8369" y="2466645"/>
            <a:ext cx="2627588" cy="252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453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6E94D4DF-24E6-4758-8701-2C20AC2BF2DD}" vid="{D9C778EE-A573-4D68-89BA-A3DB5F810EA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C8B084D-D430-4822-B3CB-DEADB2E7A5F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11845F9-C5F4-4AA5-BA9E-EC2182E91488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15BFCE94-6EC9-4D8E-89B6-C22DE7AD70CB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Monoline</vt:lpstr>
      <vt:lpstr>PowerPoint Presentation</vt:lpstr>
      <vt:lpstr>Agents 007: (a brief) iNTRO TO ai eNGINEERING</vt:lpstr>
      <vt:lpstr>PowerPoint Presentation</vt:lpstr>
      <vt:lpstr>PowerPoint Presentation</vt:lpstr>
      <vt:lpstr>PowerPoint Presentation</vt:lpstr>
      <vt:lpstr>PowerPoint Presentation</vt:lpstr>
      <vt:lpstr>WORKSHOP Agenda</vt:lpstr>
      <vt:lpstr>What's an AI agent anyway</vt:lpstr>
      <vt:lpstr>Explain llms like I'm 5 years old.</vt:lpstr>
      <vt:lpstr>Agent buILDING BLOCKS</vt:lpstr>
      <vt:lpstr>PowerPoint Presentation</vt:lpstr>
      <vt:lpstr>Enjoy our food &amp; COMPLIMENT MY CAT!</vt:lpstr>
      <vt:lpstr>Explain langchain like I'm 5</vt:lpstr>
      <vt:lpstr>Explain langGraph like I'm 6</vt:lpstr>
      <vt:lpstr>PowerPoint Presentation</vt:lpstr>
      <vt:lpstr>Learning 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138</cp:revision>
  <dcterms:created xsi:type="dcterms:W3CDTF">2025-10-22T03:17:51Z</dcterms:created>
  <dcterms:modified xsi:type="dcterms:W3CDTF">2026-09-17T13:49:20Z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